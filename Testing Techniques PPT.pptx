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Ogv0cv++JZ+5JN1HfRuE+cnTAJ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Varun Malhotra"/>
  <p:cmAuthor clrIdx="1" id="1" initials="" lastIdx="1" name="Krishna Raj Sing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EAFCD9-C2FE-4672-AB3C-CF690AC9A2A0}">
  <a:tblStyle styleId="{D4EAFCD9-C2FE-4672-AB3C-CF690AC9A2A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9-07T12:26:13.290">
    <p:pos x="856" y="3032"/>
    <p:text>Use class is nothing, please update this to use case (s)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U-j5qhE"/>
      </p:ext>
    </p:extLst>
  </p:cm>
  <p:cm authorId="1" idx="1" dt="2024-09-07T12:26:13.290">
    <p:pos x="856" y="3032"/>
    <p:text>Fixed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U-j5qh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:notes"/>
          <p:cNvSpPr txBox="1"/>
          <p:nvPr/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www.joshtechnologygroup.com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:notes"/>
          <p:cNvSpPr txBox="1"/>
          <p:nvPr/>
        </p:nvSpPr>
        <p:spPr>
          <a:xfrm>
            <a:off x="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Presentation Title | JTG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14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1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7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1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3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5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4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5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5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6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7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57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57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7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7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7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1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2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hyperlink" Target="https://www.guru99.com/decision-table-testing.html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geeksforgeeks.org/software-testing-techniques/" TargetMode="External"/><Relationship Id="rId4" Type="http://schemas.openxmlformats.org/officeDocument/2006/relationships/hyperlink" Target="https://www.guru99.com/software-testing-techniques.html" TargetMode="External"/><Relationship Id="rId9" Type="http://schemas.openxmlformats.org/officeDocument/2006/relationships/hyperlink" Target="https://study.com/academy/lesson/what-is-a-use-case-definition-examples.html" TargetMode="External"/><Relationship Id="rId5" Type="http://schemas.openxmlformats.org/officeDocument/2006/relationships/hyperlink" Target="https://artoftesting.com/boundary-value-analysis" TargetMode="External"/><Relationship Id="rId6" Type="http://schemas.openxmlformats.org/officeDocument/2006/relationships/hyperlink" Target="https://www.geeksforgeeks.org/equivalence-partitioning-method/" TargetMode="External"/><Relationship Id="rId7" Type="http://schemas.openxmlformats.org/officeDocument/2006/relationships/hyperlink" Target="https://www.guru99.com/state-transition-testing.html" TargetMode="External"/><Relationship Id="rId8" Type="http://schemas.openxmlformats.org/officeDocument/2006/relationships/hyperlink" Target="https://www.techtarget.com/searchsoftwarequality/definition/use-cas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"/>
          <p:cNvPicPr preferRelativeResize="0"/>
          <p:nvPr/>
        </p:nvPicPr>
        <p:blipFill rotWithShape="1">
          <a:blip r:embed="rId3">
            <a:alphaModFix/>
          </a:blip>
          <a:srcRect b="9643" l="0" r="0" t="39556"/>
          <a:stretch/>
        </p:blipFill>
        <p:spPr>
          <a:xfrm>
            <a:off x="0" y="-32760"/>
            <a:ext cx="12191760" cy="43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"/>
          <p:cNvSpPr/>
          <p:nvPr/>
        </p:nvSpPr>
        <p:spPr>
          <a:xfrm>
            <a:off x="0" y="-10080"/>
            <a:ext cx="12191760" cy="4377600"/>
          </a:xfrm>
          <a:prstGeom prst="rect">
            <a:avLst/>
          </a:prstGeom>
          <a:solidFill>
            <a:srgbClr val="1D2E36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762120" y="1758600"/>
            <a:ext cx="622188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IN" sz="4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TESTING TECHNIQUES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878400" y="423324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183" name="Google Shape;18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6120" y="248400"/>
            <a:ext cx="3048840" cy="127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"/>
          <p:cNvSpPr/>
          <p:nvPr/>
        </p:nvSpPr>
        <p:spPr>
          <a:xfrm>
            <a:off x="6146640" y="5496840"/>
            <a:ext cx="5638320" cy="4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7670488" y="5666700"/>
            <a:ext cx="411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Owned by: 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"/>
          <p:cNvSpPr/>
          <p:nvPr/>
        </p:nvSpPr>
        <p:spPr>
          <a:xfrm>
            <a:off x="0" y="1820520"/>
            <a:ext cx="12191760" cy="435204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"/>
          <p:cNvSpPr txBox="1"/>
          <p:nvPr/>
        </p:nvSpPr>
        <p:spPr>
          <a:xfrm>
            <a:off x="838080" y="67860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Index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893520" y="2187720"/>
            <a:ext cx="9871200" cy="37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Boundary Value Analysis(BVA)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Equivalent Class Partition(EQP)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 transition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tables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</a:t>
            </a:r>
            <a:r>
              <a:rPr lang="en-IN" sz="1800"/>
              <a:t>ase(s)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194" name="Google Shape;1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"/>
          <p:cNvSpPr/>
          <p:nvPr/>
        </p:nvSpPr>
        <p:spPr>
          <a:xfrm>
            <a:off x="0" y="1820520"/>
            <a:ext cx="12191760" cy="435204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838080" y="678600"/>
            <a:ext cx="1075392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Testing Techniques - Introduction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 txBox="1"/>
          <p:nvPr/>
        </p:nvSpPr>
        <p:spPr>
          <a:xfrm>
            <a:off x="893520" y="2187720"/>
            <a:ext cx="9871200" cy="37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3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 ExtraBold"/>
              <a:buChar char="•"/>
            </a:pPr>
            <a:r>
              <a:rPr b="0" i="0" lang="en-IN" sz="17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methodologies of testing a software to find bugs/defects are called testing techniques. </a:t>
            </a:r>
            <a:endParaRPr b="0" i="0" sz="17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3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 ExtraBold"/>
              <a:buChar char="•"/>
            </a:pPr>
            <a:r>
              <a:rPr b="0" i="0" lang="en-IN" sz="17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Help the QA design better test cases. </a:t>
            </a:r>
            <a:endParaRPr b="0" i="0" sz="17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3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 ExtraBold"/>
              <a:buChar char="•"/>
            </a:pPr>
            <a:r>
              <a:rPr b="0" i="0" lang="en-IN" sz="17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Reduces the number of test cases to be executed while increasing test coverage.</a:t>
            </a:r>
            <a:endParaRPr b="0" i="0" sz="17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3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 ExtraBold"/>
              <a:buChar char="•"/>
            </a:pPr>
            <a:r>
              <a:rPr b="0" i="0" lang="en-IN" sz="17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Identify test conditions that are otherwise difficult to recognize.</a:t>
            </a:r>
            <a:endParaRPr b="0" i="0" sz="17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36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700"/>
              <a:buFont typeface="Noto Sans Symbols ExtraBold"/>
              <a:buChar char="•"/>
            </a:pPr>
            <a:r>
              <a:rPr b="0" i="0" lang="en-IN" sz="17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Ensures the overall quality of the product or software.</a:t>
            </a:r>
            <a:endParaRPr b="0" i="0" sz="1700" u="none" cap="none" strike="noStrike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04" name="Google Shape;2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"/>
          <p:cNvSpPr/>
          <p:nvPr/>
        </p:nvSpPr>
        <p:spPr>
          <a:xfrm>
            <a:off x="125" y="1820870"/>
            <a:ext cx="12191700" cy="435210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Boundary Value Analysis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893525" y="2187725"/>
            <a:ext cx="103026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449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Noto Sans Symbols ExtraBold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a black-box testing technique.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450" lvl="0" marL="432000" marR="0" rtl="0" algn="l">
              <a:lnSpc>
                <a:spcPct val="115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Noto Sans Symbols ExtraBold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behavior of the application is analyzed with test data residing at the boundary values of the equivalence classes.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450" lvl="0" marL="432000" marR="0" rtl="0" algn="l">
              <a:lnSpc>
                <a:spcPct val="115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Noto Sans Symbols ExtraBold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 higher chance of finding errors in the software application using this method.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450" lvl="0" marL="432000" marR="0" rtl="0" algn="l">
              <a:lnSpc>
                <a:spcPct val="115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510"/>
              <a:buFont typeface="Noto Sans Symbols ExtraBold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Example- An application that accepts a numeric number as input with a value between 10 to 100. While testing such application, we will not only test it with values from 10 to 100 but also with other sets of values like – less than 10, greater 10, special characters, alphanumeric, etc.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14" name="Google Shape;2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0" y="1820520"/>
            <a:ext cx="12191760" cy="435204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Boundary Value Analysis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893522" y="2187725"/>
            <a:ext cx="46575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65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value(10):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least value used to perform testing. 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65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 above minimum(11):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Value just greater than the minimum value.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65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Nominal Value(10-100):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Any value lying between the boundary range.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65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Value(100):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highest value used to perform testing.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65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 below max value(99):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Value just smaller than the maximum value used.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24" name="Google Shape;2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5"/>
          <p:cNvPicPr preferRelativeResize="0"/>
          <p:nvPr/>
        </p:nvPicPr>
        <p:blipFill rotWithShape="1">
          <a:blip r:embed="rId4">
            <a:alphaModFix/>
          </a:blip>
          <a:srcRect b="26032" l="24247" r="32046" t="34045"/>
          <a:stretch/>
        </p:blipFill>
        <p:spPr>
          <a:xfrm>
            <a:off x="6457300" y="2718598"/>
            <a:ext cx="5327639" cy="273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/>
          <p:nvPr/>
        </p:nvSpPr>
        <p:spPr>
          <a:xfrm>
            <a:off x="0" y="1911960"/>
            <a:ext cx="12191700" cy="435210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of BVL: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Easier and Faster: The density of defects at boundaries is more.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test execution time: Only pick the value at the boundaries instead of all from the set.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Disadvantaged of BVL: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Incorrect identification of value analysis leads to incorrect boundary value testing.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 with open boundaries are not suitable for this technique.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360000" y="678600"/>
            <a:ext cx="11520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Boundary Value Analysis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125" y="1739882"/>
            <a:ext cx="12191700" cy="435210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Equivalent Class Partitioning (ECP)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720000" y="2398750"/>
            <a:ext cx="6568500" cy="3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649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called Equivalent Partitioning Method, abbreviated as EQP.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649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black-box testing technique that divides input domain into classes of data.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649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the help of these classes of data, test cases can be derived.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649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Whenever any input is given and type of input condition is checked then for this input conditions, Equivalence class represents or describes set of valid or invalid states.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68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 of this model is that there are infinite number of inputs from the user.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000" y="1711857"/>
            <a:ext cx="2590560" cy="4587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0" y="1820520"/>
            <a:ext cx="12191760" cy="435204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Equivalent Class Partitioning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440150" y="1891325"/>
            <a:ext cx="11300400" cy="4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of Equivalent Class Partitioning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Testing an online form that accepts age as input. The valid age range is 18 to 60.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input conditions: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 range: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18 to 60 (inclusive).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ranges: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Below 18 and above 60.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Divide inputs into equivalence classes: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 Equivalence Class: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Ages from 18 to 60.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Equivalence Classes: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Below 18 (e.g., 0 to 17).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Above 60 (e.g., 61 and above).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test cases from each class: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Case 1 (Valid):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Input age = 30 (within the valid range).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Case 2 (Invalid):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Input age = 15 (below the valid range).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Case 3 (Invalid):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Input age = 65 (above the valid range).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55" name="Google Shape;2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1820520"/>
            <a:ext cx="12191700" cy="4352100"/>
          </a:xfrm>
          <a:prstGeom prst="rect">
            <a:avLst/>
          </a:prstGeom>
          <a:solidFill>
            <a:srgbClr val="0DAED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360000" y="678600"/>
            <a:ext cx="11520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Equivalent Class Partitioning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440150" y="1891325"/>
            <a:ext cx="11300400" cy="4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Results: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Case 1: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Accepted as a valid input.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Case 2: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Rejected with an error (age is too low).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Case 3: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Rejected with an error (age is too high).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ECP ensures that test cases cover representative values from both valid and invalid classes, reducing redundant tests while covering all scenarios.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93520" y="1820520"/>
            <a:ext cx="1315818" cy="37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65" name="Google Shape;2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18" cy="120527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 txBox="1"/>
          <p:nvPr/>
        </p:nvSpPr>
        <p:spPr>
          <a:xfrm>
            <a:off x="7670520" y="648540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/>
        </p:nvSpPr>
        <p:spPr>
          <a:xfrm>
            <a:off x="0" y="1820520"/>
            <a:ext cx="12191760" cy="435204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State Transition Model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215275" y="2106600"/>
            <a:ext cx="11569800" cy="3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state transition model represents how a system moves between different states in response to events or conditions. Each state represents a distinct phase of the system, and transitions are the changes between these states triggered by specific events.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test scenarios where different inputs result in changes to the system's state.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the system responds correctly to various input sequences.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unintended state transitions or missing states.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Elements: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States: Distinct conditions or phases of the system.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Transitions: Movement from one state to another based on events.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Events: Inputs or actions that trigger state changes.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 Outputs or results of state changes.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7670520" y="648540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1820520"/>
            <a:ext cx="12191700" cy="4352100"/>
          </a:xfrm>
          <a:prstGeom prst="rect">
            <a:avLst/>
          </a:prstGeom>
          <a:solidFill>
            <a:srgbClr val="0DAED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360000" y="678600"/>
            <a:ext cx="11520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State Transition Model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215275" y="2004000"/>
            <a:ext cx="115698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testing systems with workflows, processes, or states like login systems, transaction systems, or user interface elements.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Apply State Transition Testing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the States: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all possible states the system can be in.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Events and Transitions: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 the events or conditions that cause transitions between states.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Transition Table or Diagram: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 out the states and their transitions visually or in a table format.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State Transitions: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test cases for each transition and ensure the system behaves correctly in all scenarios.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93520" y="1820520"/>
            <a:ext cx="1315818" cy="37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85" name="Google Shape;2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18" cy="120527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/>
        </p:nvSpPr>
        <p:spPr>
          <a:xfrm>
            <a:off x="7670520" y="648540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/>
          <p:nvPr/>
        </p:nvSpPr>
        <p:spPr>
          <a:xfrm>
            <a:off x="0" y="1820520"/>
            <a:ext cx="12191700" cy="4352100"/>
          </a:xfrm>
          <a:prstGeom prst="rect">
            <a:avLst/>
          </a:prstGeom>
          <a:solidFill>
            <a:srgbClr val="0DAED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360000" y="678600"/>
            <a:ext cx="11520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State Transition Model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215275" y="1955050"/>
            <a:ext cx="7073400" cy="40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uncover missing or incorrect transitions.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 in validating system behavior under different conditions.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893520" y="1820520"/>
            <a:ext cx="1315818" cy="37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295" name="Google Shape;2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18" cy="120527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 txBox="1"/>
          <p:nvPr/>
        </p:nvSpPr>
        <p:spPr>
          <a:xfrm>
            <a:off x="7670520" y="648540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12"/>
          <p:cNvPicPr preferRelativeResize="0"/>
          <p:nvPr/>
        </p:nvPicPr>
        <p:blipFill rotWithShape="1">
          <a:blip r:embed="rId4">
            <a:alphaModFix/>
          </a:blip>
          <a:srcRect b="13631" l="12438" r="34406" t="35807"/>
          <a:stretch/>
        </p:blipFill>
        <p:spPr>
          <a:xfrm>
            <a:off x="7455075" y="2700721"/>
            <a:ext cx="4545324" cy="24303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12"/>
          <p:cNvGraphicFramePr/>
          <p:nvPr/>
        </p:nvGraphicFramePr>
        <p:xfrm>
          <a:off x="502100" y="200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{D4EAFCD9-C2FE-4672-AB3C-CF690AC9A2A0}</a:tableStyleId>
              </a:tblPr>
              <a:tblGrid>
                <a:gridCol w="1468900"/>
                <a:gridCol w="1468900"/>
                <a:gridCol w="1468900"/>
                <a:gridCol w="14689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Current State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Event 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Next State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Action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Logged Out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Logged 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Display Home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Logged 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Logout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Logged Out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Display Login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Logged 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Session Timeout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Logged Out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Display Login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0" y="1820525"/>
            <a:ext cx="12191700" cy="444390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Decision Tables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893525" y="1820525"/>
            <a:ext cx="103161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decision table is a tabular method used for representing and analyzing conditions and actions in testing scenarios. It helps outline all possible combinations of inputs and their corresponding expected outputs.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all business rules and test conditions are captured.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Simplify complex logical decisions by structuring them into manageable tables.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a comprehensive set of test cases.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Conditions: The different input combinations or decision factors.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Actions: The expected output or result based on conditions.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Rules: A set of conditions mapped to specific actions.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07" name="Google Shape;3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3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/>
          <p:nvPr/>
        </p:nvSpPr>
        <p:spPr>
          <a:xfrm>
            <a:off x="0" y="1820520"/>
            <a:ext cx="12191700" cy="4352100"/>
          </a:xfrm>
          <a:prstGeom prst="rect">
            <a:avLst/>
          </a:prstGeom>
          <a:solidFill>
            <a:srgbClr val="0DAED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360000" y="678600"/>
            <a:ext cx="11520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Decision Tables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893525" y="1820525"/>
            <a:ext cx="103161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Use: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Systems with complex business logic.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multiple combinations of inputs.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Create a Decision Table?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Conditions: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all conditions (inputs) that affect the decision.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Actions: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 the actions (outputs) that should result from the combination of conditions.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Decision Rules: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combination of conditions, define the corresponding actions.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893520" y="1820520"/>
            <a:ext cx="1315818" cy="37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17" name="Google Shape;3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18" cy="120527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 txBox="1"/>
          <p:nvPr/>
        </p:nvSpPr>
        <p:spPr>
          <a:xfrm>
            <a:off x="7670520" y="648540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"/>
          <p:cNvSpPr/>
          <p:nvPr/>
        </p:nvSpPr>
        <p:spPr>
          <a:xfrm>
            <a:off x="0" y="1820520"/>
            <a:ext cx="12191700" cy="4352100"/>
          </a:xfrm>
          <a:prstGeom prst="rect">
            <a:avLst/>
          </a:prstGeom>
          <a:solidFill>
            <a:srgbClr val="0DAED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360000" y="678600"/>
            <a:ext cx="11520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Decision Tables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893525" y="1820525"/>
            <a:ext cx="104682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i="0" lang="en-I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 in the Table: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■"/>
            </a:pPr>
            <a:r>
              <a:rPr b="0" i="0" lang="en-I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Populate the table with all possible combinations of conditions and their expected actions.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understanding of all condition-action combinations.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ambiguity in complex logic testing.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893520" y="1820520"/>
            <a:ext cx="1315818" cy="37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27" name="Google Shape;3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18" cy="120527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 txBox="1"/>
          <p:nvPr/>
        </p:nvSpPr>
        <p:spPr>
          <a:xfrm>
            <a:off x="7670520" y="648540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9" name="Google Shape;329;p15"/>
          <p:cNvGraphicFramePr/>
          <p:nvPr/>
        </p:nvGraphicFramePr>
        <p:xfrm>
          <a:off x="791175" y="312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{D4EAFCD9-C2FE-4672-AB3C-CF690AC9A2A0}</a:tableStyleId>
              </a:tblPr>
              <a:tblGrid>
                <a:gridCol w="2161700"/>
                <a:gridCol w="2161700"/>
                <a:gridCol w="2161700"/>
                <a:gridCol w="2161700"/>
                <a:gridCol w="2161700"/>
              </a:tblGrid>
              <a:tr h="28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Conditions		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Rule 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Rule 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Rule 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Rule 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6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Condition 1(True/False)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Condition 2(True/False)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28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Action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Action 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Action 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Action 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Action 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/>
          <p:nvPr/>
        </p:nvSpPr>
        <p:spPr>
          <a:xfrm>
            <a:off x="150" y="1820870"/>
            <a:ext cx="12191700" cy="435210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Use cases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138400" y="2076025"/>
            <a:ext cx="118572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0514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created  to show how a system intends to work.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14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also explains how users might apply it instead.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14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●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written before test cases and can be explained as a blueprint or template for test cases.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14" lvl="0" marL="431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●"/>
            </a:pPr>
            <a:r>
              <a:rPr b="1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 cases for a flight booking system.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customer browsing flight schedules and prices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customer selecting a flight date and time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customer adding on lounge access and free checked bags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I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customer paying with a personal credit card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565" lvl="0" marL="432000" marR="0" rtl="0" algn="l">
              <a:lnSpc>
                <a:spcPct val="15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38" name="Google Shape;3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6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/>
          <p:nvPr/>
        </p:nvSpPr>
        <p:spPr>
          <a:xfrm>
            <a:off x="0" y="1820520"/>
            <a:ext cx="12191760" cy="4352040"/>
          </a:xfrm>
          <a:prstGeom prst="rect">
            <a:avLst/>
          </a:prstGeom>
          <a:solidFill>
            <a:srgbClr val="0DAED0">
              <a:alpha val="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360000" y="678600"/>
            <a:ext cx="115200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1D2E36"/>
                </a:solidFill>
                <a:latin typeface="Avenir"/>
                <a:ea typeface="Avenir"/>
                <a:cs typeface="Avenir"/>
                <a:sym typeface="Avenir"/>
              </a:rPr>
              <a:t>Reference Links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893520" y="2187720"/>
            <a:ext cx="9871200" cy="37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https://www.geeksforgeeks.org/software-testing-techniques/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https://www.guru99.com/software-testing-techniques.html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https://artoftesting.com/boundary-value-analysis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https://www.geeksforgeeks.org/equivalence-partitioning-method/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https://www.guru99.com/state-transition-testing.html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https://www.techtarget.com/searchsoftwarequality/definition/use-case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https://study.com/academy/lesson/what-is-a-use-case-definition-examples.html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i="0" lang="en-I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https://www.guru99.com/decision-table-testing.html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994" lvl="0" marL="4320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893520" y="182052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48" name="Google Shape;34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11240" y="141120"/>
            <a:ext cx="2884320" cy="120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7"/>
          <p:cNvSpPr txBox="1"/>
          <p:nvPr/>
        </p:nvSpPr>
        <p:spPr>
          <a:xfrm>
            <a:off x="7670520" y="648540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Tuesday, 5 February 2019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JTG Company Confidential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0" y="-10080"/>
            <a:ext cx="12191760" cy="6867720"/>
          </a:xfrm>
          <a:prstGeom prst="rect">
            <a:avLst/>
          </a:prstGeom>
          <a:solidFill>
            <a:srgbClr val="1D2E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523880" y="1428480"/>
            <a:ext cx="473760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THANK YOU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1523880" y="1097640"/>
            <a:ext cx="13158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57225">
            <a:solidFill>
              <a:srgbClr val="0DAED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9" name="Google Shape;359;p18"/>
          <p:cNvSpPr/>
          <p:nvPr/>
        </p:nvSpPr>
        <p:spPr>
          <a:xfrm>
            <a:off x="2203920" y="4606920"/>
            <a:ext cx="275436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2203927" y="5042525"/>
            <a:ext cx="56535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2203920" y="5477760"/>
            <a:ext cx="392328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www.joshtechnologygroup.com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400" y="4377240"/>
            <a:ext cx="756720" cy="169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